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4" r:id="rId4"/>
    <p:sldId id="266" r:id="rId5"/>
    <p:sldId id="262" r:id="rId6"/>
    <p:sldId id="263" r:id="rId7"/>
    <p:sldId id="275" r:id="rId8"/>
    <p:sldId id="278" r:id="rId9"/>
    <p:sldId id="267" r:id="rId10"/>
    <p:sldId id="274" r:id="rId11"/>
    <p:sldId id="279" r:id="rId12"/>
    <p:sldId id="268" r:id="rId13"/>
    <p:sldId id="260" r:id="rId14"/>
    <p:sldId id="259" r:id="rId15"/>
    <p:sldId id="271" r:id="rId16"/>
    <p:sldId id="26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75470"/>
  </p:normalViewPr>
  <p:slideViewPr>
    <p:cSldViewPr snapToGrid="0">
      <p:cViewPr>
        <p:scale>
          <a:sx n="95" d="100"/>
          <a:sy n="95" d="100"/>
        </p:scale>
        <p:origin x="144" y="-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C05056-9D32-A947-B949-0593347545E7}" type="datetimeFigureOut">
              <a:rPr lang="en-US" smtClean="0"/>
              <a:t>6/28/25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AE2A2C-7F4D-EB4E-BC7E-625DCB13D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281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=== Flagging Performance Report === Flagged Patients Summary: - Total flagged: 208 - Still employed when flagged: 92 (44.2%) - Median months before exit: 7.0 - Early warnings (&gt;12 months): 55 - Imminent warnings (≤12 months): 153 Overall Flagging Accuracy: - Total patients: 1025 - Should have been flagged (not employed at end): 243 - Correctly flagged (true positives): 208 - False positives: 23 - False negatives: 35 - Sensitivity (recall): 85.6% - Precision: 90.0% - Specificity: 97.1% - Flagging rate: 85.6% - False positive rate: 2.9%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E2A2C-7F4D-EB4E-BC7E-625DCB13D34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145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ts val="2143"/>
              </a:lnSpc>
              <a:spcAft>
                <a:spcPts val="1029"/>
              </a:spcAft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E2A2C-7F4D-EB4E-BC7E-625DCB13D34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052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02B79-221C-533F-70E7-0794F61C5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268168-5AB0-753B-2A01-EABD63C2C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13190-24A4-2517-0AA7-CF33209D8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CFED1-FF0E-A445-B73A-89EFF957FAC6}" type="datetimeFigureOut">
              <a:rPr lang="en-US" smtClean="0"/>
              <a:t>6/28/25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AC9C5-7F38-F310-37A0-B5908C047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EAD6A-7899-C94A-5208-9B3EE544C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C7EC-30E8-E64A-983E-88D856CEC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11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E4F0F-0945-A939-F27C-5390B05AF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CD292-319F-F252-EF67-F3DB92750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5813A-0DC0-D9D7-ED5E-DFCC3EABB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CFED1-FF0E-A445-B73A-89EFF957FAC6}" type="datetimeFigureOut">
              <a:rPr lang="en-US" smtClean="0"/>
              <a:t>6/28/25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1FA53-9794-9F92-58E4-503EE76C4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B62D8-9B5D-E494-0BD1-1EA8605DC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C7EC-30E8-E64A-983E-88D856CEC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565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58613-1430-F9DD-E998-AB05066AB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AFE98-9600-D070-B0FF-6C9F392A6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D1A32-93C9-4A2D-C4CC-BC79096D3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CFED1-FF0E-A445-B73A-89EFF957FAC6}" type="datetimeFigureOut">
              <a:rPr lang="en-US" smtClean="0"/>
              <a:t>6/28/25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2CE00-DC20-8832-73F6-B2B0D738D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E9409-2272-CB67-53B4-1A9F8EF5B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C7EC-30E8-E64A-983E-88D856CEC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036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47CAE-B778-576B-4672-D40B0FA24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88814-6A83-0DBB-56FE-564E0D67E8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0EDE78-7CA3-AE13-568A-F535D3AE6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7B1A1-023A-6B18-B795-2AC0FC7AA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CFED1-FF0E-A445-B73A-89EFF957FAC6}" type="datetimeFigureOut">
              <a:rPr lang="en-US" smtClean="0"/>
              <a:t>6/28/25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26363-9CFC-AE2B-8F10-F46404DC5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AF19B-6FB9-784F-9A48-B58D178A3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C7EC-30E8-E64A-983E-88D856CEC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905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2A738-DE66-FD72-AE19-70D5A8EBC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FC5C0-128F-0176-05EA-9653FBA7C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656711-D1FD-D954-0621-BC6E1A48D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628F2C-C975-1FD7-E80C-1BD2CEE31B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737CA4-0B18-91C3-FE2C-6EA3CE98D1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E0E939-57AE-2F09-3602-540F8D093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CFED1-FF0E-A445-B73A-89EFF957FAC6}" type="datetimeFigureOut">
              <a:rPr lang="en-US" smtClean="0"/>
              <a:t>6/28/25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B12B3A-4FB7-C0AF-73BD-A0BF62348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D0AF6E-1C1A-053A-6C12-18947B427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C7EC-30E8-E64A-983E-88D856CEC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125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73EC0-707D-9181-9967-BE3F2C642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FDDF8B-7A41-C06A-2ED1-53A48001D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CFED1-FF0E-A445-B73A-89EFF957FAC6}" type="datetimeFigureOut">
              <a:rPr lang="en-US" smtClean="0"/>
              <a:t>6/28/25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2BE638-0881-8F3A-AEFF-A2B8FD77D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680729-114C-D8E2-A42F-1EC334613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C7EC-30E8-E64A-983E-88D856CEC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898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C79116-B114-7B3D-4C1E-670C5E5B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CFED1-FF0E-A445-B73A-89EFF957FAC6}" type="datetimeFigureOut">
              <a:rPr lang="en-US" smtClean="0"/>
              <a:t>6/28/25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3ADC6F-AB12-CF1A-7F56-649A3DE13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4EC43-0C7A-3545-F06A-F47C78AF0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C7EC-30E8-E64A-983E-88D856CEC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446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59A7E-1D49-D664-C011-95FB4D942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77625-171D-EF9F-ECC7-FF8237F36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53436D-5C48-24B1-3BDF-B5456A3F1B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AA94D-BB7D-FCA8-6C3D-CF3E97C87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CFED1-FF0E-A445-B73A-89EFF957FAC6}" type="datetimeFigureOut">
              <a:rPr lang="en-US" smtClean="0"/>
              <a:t>6/28/25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1EAD62-64E5-DA2A-075E-583107B6A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A76844-B767-290F-9452-22A915349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C7EC-30E8-E64A-983E-88D856CEC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781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ED713-58EB-6457-32BA-2B605B875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B5A087-64F0-F19D-9A54-CE07A6A83C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39A7D0-3BF3-7D94-E62D-8D5D33ED88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B3E11-F101-6CEB-9AA3-E9B9785B1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CFED1-FF0E-A445-B73A-89EFF957FAC6}" type="datetimeFigureOut">
              <a:rPr lang="en-US" smtClean="0"/>
              <a:t>6/28/25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16F8A1-44F4-CA8D-ED20-FF8D5634C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5CB2A7-F835-2A23-EB0E-143B0E35D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C7EC-30E8-E64A-983E-88D856CEC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45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DF5CD-5980-C7A0-23DE-D0F75CEC5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405BB0-8BBD-A7A8-B9D9-38AF1502F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8E5C4-6E95-92A3-CED1-29B27E60E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CFED1-FF0E-A445-B73A-89EFF957FAC6}" type="datetimeFigureOut">
              <a:rPr lang="en-US" smtClean="0"/>
              <a:t>6/28/25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20DE4-191A-EC7B-5038-487689F6D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BEDA2-ADB0-ED87-0158-427C547D3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C7EC-30E8-E64A-983E-88D856CEC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396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049BA5-B4BB-D9DA-52BD-7150AC526F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A54D2C-DA8D-61CE-B955-CB716A19DA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90EA4-6A13-B1E4-D1BA-12C187DB8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CFED1-FF0E-A445-B73A-89EFF957FAC6}" type="datetimeFigureOut">
              <a:rPr lang="en-US" smtClean="0"/>
              <a:t>6/28/25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12B7D-203F-CCC7-3C69-8BBAC8562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99FE5-9DCC-8377-563B-DFC4CCCE1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C7EC-30E8-E64A-983E-88D856CEC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343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481BCB-9EC3-80B1-754D-08F23BA5B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6F2AD-6FFF-ACB4-F468-E4CE2630E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DB118-99ED-BF27-4606-3DFCFD8D82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9CFED1-FF0E-A445-B73A-89EFF957FAC6}" type="datetimeFigureOut">
              <a:rPr lang="en-US" smtClean="0"/>
              <a:t>6/28/25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2F60C-C6B3-D7EB-ABE0-7BE0A23BAE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64484-7B33-E13C-DE7D-AE01B2D921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0C7EC-30E8-E64A-983E-88D856CEC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809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57A50-1BFC-EE35-9655-0E15728920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Labor Force Exits of SLE Patients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E7C7FD-0D1C-2B82-1014-3532BDBEE4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633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299C3-7976-BBF8-50EF-E784D7334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21446-ABC1-567B-8BA6-215A0FB36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arenR"/>
            </a:pPr>
            <a:r>
              <a:rPr lang="en-US" dirty="0"/>
              <a:t>Study characteristics of workers in the various end states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2) Identify risk factors of workers leaving the labor force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3) Flag high risk patients for early prediction</a:t>
            </a:r>
          </a:p>
        </p:txBody>
      </p:sp>
    </p:spTree>
    <p:extLst>
      <p:ext uri="{BB962C8B-B14F-4D97-AF65-F5344CB8AC3E}">
        <p14:creationId xmlns:p14="http://schemas.microsoft.com/office/powerpoint/2010/main" val="1965759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24007C3-8837-82FA-B89A-64DBF06A7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4C444-D00A-17C7-2027-40F70E175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07955-563A-3912-3200-CDF8F3303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arenR"/>
            </a:pPr>
            <a:r>
              <a:rPr lang="en-US" dirty="0"/>
              <a:t>Study characteristics of workers in the various end states</a:t>
            </a:r>
          </a:p>
          <a:p>
            <a:pPr marL="0" indent="0">
              <a:buNone/>
            </a:pPr>
            <a:r>
              <a:rPr lang="en-US" dirty="0"/>
              <a:t>	- Descriptive and summary statistics</a:t>
            </a:r>
          </a:p>
          <a:p>
            <a:pPr marL="0" indent="0">
              <a:buNone/>
            </a:pPr>
            <a:r>
              <a:rPr lang="en-US" dirty="0"/>
              <a:t>2) Identify risk factors of workers leaving the labor force</a:t>
            </a:r>
          </a:p>
          <a:p>
            <a:pPr marL="0" indent="0">
              <a:buNone/>
            </a:pPr>
            <a:r>
              <a:rPr lang="en-US" dirty="0"/>
              <a:t>	- Competing risk analysis</a:t>
            </a:r>
          </a:p>
          <a:p>
            <a:pPr marL="0" indent="0">
              <a:buNone/>
            </a:pPr>
            <a:r>
              <a:rPr lang="en-US" dirty="0"/>
              <a:t>3) Flag high risk patients for early prediction</a:t>
            </a:r>
          </a:p>
          <a:p>
            <a:pPr marL="0" indent="0">
              <a:buNone/>
            </a:pPr>
            <a:r>
              <a:rPr lang="en-US" dirty="0"/>
              <a:t>	- Recurring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971724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4B04D-0E0E-2D46-81C4-657F66A60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workers in the various exit routes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0A2147-AA78-2574-71A3-0FF53222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733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E9903-9CD7-BBD8-BFEE-63E4D8C54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FC3FD-0EA3-940B-3C65-D170F87A4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1,051 initially employed people SLE patients </a:t>
            </a:r>
          </a:p>
          <a:p>
            <a:r>
              <a:rPr lang="en-US" dirty="0"/>
              <a:t>Classified their final employment into end states:</a:t>
            </a:r>
          </a:p>
          <a:p>
            <a:pPr lvl="1"/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512F361-07BA-F123-6718-EB7F2C5AE9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194262"/>
              </p:ext>
            </p:extLst>
          </p:nvPr>
        </p:nvGraphicFramePr>
        <p:xfrm>
          <a:off x="940527" y="3443065"/>
          <a:ext cx="10737668" cy="974598"/>
        </p:xfrm>
        <a:graphic>
          <a:graphicData uri="http://schemas.openxmlformats.org/drawingml/2006/table">
            <a:tbl>
              <a:tblPr/>
              <a:tblGrid>
                <a:gridCol w="1694588">
                  <a:extLst>
                    <a:ext uri="{9D8B030D-6E8A-4147-A177-3AD203B41FA5}">
                      <a16:colId xmlns:a16="http://schemas.microsoft.com/office/drawing/2014/main" val="3031459767"/>
                    </a:ext>
                  </a:extLst>
                </a:gridCol>
                <a:gridCol w="1362005">
                  <a:extLst>
                    <a:ext uri="{9D8B030D-6E8A-4147-A177-3AD203B41FA5}">
                      <a16:colId xmlns:a16="http://schemas.microsoft.com/office/drawing/2014/main" val="903724334"/>
                    </a:ext>
                  </a:extLst>
                </a:gridCol>
                <a:gridCol w="1235308">
                  <a:extLst>
                    <a:ext uri="{9D8B030D-6E8A-4147-A177-3AD203B41FA5}">
                      <a16:colId xmlns:a16="http://schemas.microsoft.com/office/drawing/2014/main" val="1661288682"/>
                    </a:ext>
                  </a:extLst>
                </a:gridCol>
                <a:gridCol w="1615402">
                  <a:extLst>
                    <a:ext uri="{9D8B030D-6E8A-4147-A177-3AD203B41FA5}">
                      <a16:colId xmlns:a16="http://schemas.microsoft.com/office/drawing/2014/main" val="3902222465"/>
                    </a:ext>
                  </a:extLst>
                </a:gridCol>
                <a:gridCol w="1789611">
                  <a:extLst>
                    <a:ext uri="{9D8B030D-6E8A-4147-A177-3AD203B41FA5}">
                      <a16:colId xmlns:a16="http://schemas.microsoft.com/office/drawing/2014/main" val="250117186"/>
                    </a:ext>
                  </a:extLst>
                </a:gridCol>
                <a:gridCol w="1472866">
                  <a:extLst>
                    <a:ext uri="{9D8B030D-6E8A-4147-A177-3AD203B41FA5}">
                      <a16:colId xmlns:a16="http://schemas.microsoft.com/office/drawing/2014/main" val="3521120547"/>
                    </a:ext>
                  </a:extLst>
                </a:gridCol>
                <a:gridCol w="1567888">
                  <a:extLst>
                    <a:ext uri="{9D8B030D-6E8A-4147-A177-3AD203B41FA5}">
                      <a16:colId xmlns:a16="http://schemas.microsoft.com/office/drawing/2014/main" val="336549201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End State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 </a:t>
                      </a:r>
                      <a:endParaRPr lang="en-US" sz="3200" b="0" i="0" dirty="0">
                        <a:effectLst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Disability Benefit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 </a:t>
                      </a:r>
                      <a:endParaRPr lang="en-US" sz="3200" b="0" i="0" dirty="0">
                        <a:effectLst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Early Retirement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 </a:t>
                      </a:r>
                      <a:endParaRPr lang="en-US" sz="3200" b="0" i="0" dirty="0">
                        <a:effectLst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Economically Inactive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 </a:t>
                      </a:r>
                      <a:endParaRPr lang="en-US" sz="3200" b="0" i="0">
                        <a:effectLst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Employed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 </a:t>
                      </a:r>
                      <a:endParaRPr lang="en-US" sz="3200" b="0" i="0">
                        <a:effectLst/>
                      </a:endParaRPr>
                    </a:p>
                    <a:p>
                      <a:pPr algn="ctr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 </a:t>
                      </a:r>
                      <a:endParaRPr lang="en-US" sz="3200" b="0" i="0">
                        <a:effectLst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Unemployed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 </a:t>
                      </a:r>
                      <a:endParaRPr lang="en-US" sz="3200" b="0" i="0">
                        <a:effectLst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Employed (Died)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 </a:t>
                      </a:r>
                      <a:endParaRPr lang="en-US" sz="3200" b="0" i="0" dirty="0">
                        <a:effectLst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29582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N (% of Cohort) </a:t>
                      </a:r>
                      <a:endParaRPr lang="en-US" sz="3200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129 (12.6%) </a:t>
                      </a:r>
                      <a:endParaRPr lang="en-US" sz="3200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27 (2.6%) </a:t>
                      </a:r>
                      <a:endParaRPr lang="en-US" sz="3200" b="0" i="0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35 (3.4%) </a:t>
                      </a:r>
                      <a:endParaRPr lang="en-US" sz="3200" b="0" i="0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762 (74.3%) </a:t>
                      </a:r>
                      <a:endParaRPr lang="en-US" sz="3200" b="0" i="0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45 (4.4%) </a:t>
                      </a:r>
                      <a:endParaRPr lang="en-US" sz="3200" b="0" i="0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27 (2.6%) </a:t>
                      </a:r>
                      <a:endParaRPr lang="en-US" sz="3200" b="0" i="0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037632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4D519D5-90C2-E37A-9F6C-19D6F62EA25C}"/>
              </a:ext>
            </a:extLst>
          </p:cNvPr>
          <p:cNvSpPr txBox="1"/>
          <p:nvPr/>
        </p:nvSpPr>
        <p:spPr>
          <a:xfrm>
            <a:off x="1489166" y="5264331"/>
            <a:ext cx="94444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*Employed (Died) includes all deaths that occurred while the patient was employed.</a:t>
            </a:r>
          </a:p>
          <a:p>
            <a:r>
              <a:rPr lang="en-US" dirty="0"/>
              <a:t>  There were only seven deaths of employed people caused by SLE and it was only the primary    cause of death in four of them</a:t>
            </a:r>
          </a:p>
        </p:txBody>
      </p:sp>
    </p:spTree>
    <p:extLst>
      <p:ext uri="{BB962C8B-B14F-4D97-AF65-F5344CB8AC3E}">
        <p14:creationId xmlns:p14="http://schemas.microsoft.com/office/powerpoint/2010/main" val="3657783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E96B0606-AB97-4971-DCBC-872E81975A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099" y="3775515"/>
            <a:ext cx="3797536" cy="2981064"/>
          </a:xfrm>
          <a:prstGeom prst="rect">
            <a:avLst/>
          </a:prstGeom>
        </p:spPr>
      </p:pic>
      <p:pic>
        <p:nvPicPr>
          <p:cNvPr id="9" name="Picture 8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7E214F37-66A4-56D1-C947-C05E930E7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386" y="3803996"/>
            <a:ext cx="3797536" cy="2924102"/>
          </a:xfrm>
          <a:prstGeom prst="rect">
            <a:avLst/>
          </a:prstGeom>
        </p:spPr>
      </p:pic>
      <p:pic>
        <p:nvPicPr>
          <p:cNvPr id="7" name="Picture 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9AB66AD9-7E9C-F9AA-B2AA-6E042B7E2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2673" y="3946404"/>
            <a:ext cx="3797536" cy="2639287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DA3FB77-5454-3B96-12F7-07C23E8939A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Treatment Trajectory by End State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1BC3869-2FF2-8BF0-7ABF-326955959F80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 can consistently see how people that died while employed had the highest doses at the end and employed people, the lowest</a:t>
            </a:r>
          </a:p>
          <a:p>
            <a:r>
              <a:rPr lang="en-US" dirty="0"/>
              <a:t>People on disability benefit had the second highest steroid dose at the end</a:t>
            </a:r>
          </a:p>
        </p:txBody>
      </p:sp>
    </p:spTree>
    <p:extLst>
      <p:ext uri="{BB962C8B-B14F-4D97-AF65-F5344CB8AC3E}">
        <p14:creationId xmlns:p14="http://schemas.microsoft.com/office/powerpoint/2010/main" val="2464017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D704A-68D7-D128-F687-D903A0407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Dose and type of treatment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366A7AE-5AC4-CFD4-A0A0-4915E83EC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3978"/>
            <a:ext cx="113538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People who died while employed had significantly higher maximum doses of steroids or immunosuppressants than the other categories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F3FC59F-DCD3-4E67-E157-867219682F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712659"/>
              </p:ext>
            </p:extLst>
          </p:nvPr>
        </p:nvGraphicFramePr>
        <p:xfrm>
          <a:off x="2418080" y="2798571"/>
          <a:ext cx="6908800" cy="2669353"/>
        </p:xfrm>
        <a:graphic>
          <a:graphicData uri="http://schemas.openxmlformats.org/drawingml/2006/table">
            <a:tbl>
              <a:tblPr/>
              <a:tblGrid>
                <a:gridCol w="1342563">
                  <a:extLst>
                    <a:ext uri="{9D8B030D-6E8A-4147-A177-3AD203B41FA5}">
                      <a16:colId xmlns:a16="http://schemas.microsoft.com/office/drawing/2014/main" val="2616046553"/>
                    </a:ext>
                  </a:extLst>
                </a:gridCol>
                <a:gridCol w="699597">
                  <a:extLst>
                    <a:ext uri="{9D8B030D-6E8A-4147-A177-3AD203B41FA5}">
                      <a16:colId xmlns:a16="http://schemas.microsoft.com/office/drawing/2014/main" val="3286954063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1812716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628026281"/>
                    </a:ext>
                  </a:extLst>
                </a:gridCol>
                <a:gridCol w="650240">
                  <a:extLst>
                    <a:ext uri="{9D8B030D-6E8A-4147-A177-3AD203B41FA5}">
                      <a16:colId xmlns:a16="http://schemas.microsoft.com/office/drawing/2014/main" val="1296412734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4208596166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165325538"/>
                    </a:ext>
                  </a:extLst>
                </a:gridCol>
                <a:gridCol w="1137920">
                  <a:extLst>
                    <a:ext uri="{9D8B030D-6E8A-4147-A177-3AD203B41FA5}">
                      <a16:colId xmlns:a16="http://schemas.microsoft.com/office/drawing/2014/main" val="376091267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End State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Patients (n)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 </a:t>
                      </a:r>
                      <a:endParaRPr lang="en-US" b="0" i="0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Low Steroid Dose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Medium Steroid Dose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High Steroid Dose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Any Immunosuppressant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Immunosuppressant &gt;100mg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 </a:t>
                      </a:r>
                      <a:endParaRPr lang="en-US" b="0" i="0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Any Antimalarial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 </a:t>
                      </a:r>
                      <a:endParaRPr lang="en-US" b="0" i="0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9707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Disability Benefit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129 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13.3%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39.1%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47.6%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81.5%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61.2%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92.6% </a:t>
                      </a:r>
                      <a:endParaRPr lang="en-US" b="0" i="0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4993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Early Retirement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27 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40.5%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44.2%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15.2%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57.7%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39.9%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73.5% </a:t>
                      </a:r>
                      <a:endParaRPr lang="en-US" b="0" i="0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6684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Economically Inactive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35 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16.9%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28.5%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54.6%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75.4%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69.7%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93.2% </a:t>
                      </a:r>
                      <a:endParaRPr lang="en-US" b="0" i="0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71349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Employed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762 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31.3%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38.5%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30.2%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72.2%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52.0%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92.7% </a:t>
                      </a:r>
                      <a:endParaRPr lang="en-US" b="0" i="0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83308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Employed (Died)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27 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4.0% </a:t>
                      </a:r>
                      <a:endParaRPr lang="en-US" b="0" i="0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32.1% </a:t>
                      </a:r>
                      <a:endParaRPr lang="en-US" b="0" i="0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63.8%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94.3%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90.1%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82.2% </a:t>
                      </a:r>
                      <a:endParaRPr lang="en-US" b="0" i="0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6227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Unemployed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45 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24.2% </a:t>
                      </a:r>
                      <a:endParaRPr lang="en-US" b="0" i="0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17.6% </a:t>
                      </a:r>
                      <a:endParaRPr lang="en-US" b="0" i="0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58.2%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73.5%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54.2% </a:t>
                      </a:r>
                      <a:endParaRPr lang="en-US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82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90.5% </a:t>
                      </a:r>
                      <a:endParaRPr lang="en-US" b="0" i="0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335487"/>
                  </a:ext>
                </a:extLst>
              </a:tr>
            </a:tbl>
          </a:graphicData>
        </a:graphic>
      </p:graphicFrame>
      <p:sp>
        <p:nvSpPr>
          <p:cNvPr id="13" name="Rectangle 1">
            <a:extLst>
              <a:ext uri="{FF2B5EF4-FFF2-40B4-BE49-F238E27FC236}">
                <a16:creationId xmlns:a16="http://schemas.microsoft.com/office/drawing/2014/main" id="{C03DF0A0-D48B-B110-0250-E0A61F72F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4240" y="5704871"/>
            <a:ext cx="7171863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Note. </a:t>
            </a:r>
            <a:r>
              <a:rPr kumimoji="0" lang="en-US" altLang="en-US" sz="12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Steroid doses look at maximum dose throughout treatment.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Low steroid dose is &lt;7.5mg; medium, 7.5-30mg; high, &gt;30mg. Mild flares are defined as a change in SLEDAI between 3 and 10 and severe are changes of more than 10 units.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957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CDACF-C83E-0C86-E4C8-394FD004B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Flares by End State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0E1867C-A021-8F2B-7F52-73AF8842E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08576" cy="4351338"/>
          </a:xfrm>
        </p:spPr>
        <p:txBody>
          <a:bodyPr/>
          <a:lstStyle/>
          <a:p>
            <a:r>
              <a:rPr lang="en-US" dirty="0"/>
              <a:t>Moderate flare: SLEDAI increase from 3 to 10</a:t>
            </a:r>
          </a:p>
          <a:p>
            <a:r>
              <a:rPr lang="en-US" dirty="0"/>
              <a:t>Severe flare: SLEDAI increase of more than 10</a:t>
            </a:r>
          </a:p>
        </p:txBody>
      </p:sp>
      <p:pic>
        <p:nvPicPr>
          <p:cNvPr id="13" name="Picture 12" descr="A graph of different stages of employment&#10;&#10;AI-generated content may be incorrect.">
            <a:extLst>
              <a:ext uri="{FF2B5EF4-FFF2-40B4-BE49-F238E27FC236}">
                <a16:creationId xmlns:a16="http://schemas.microsoft.com/office/drawing/2014/main" id="{30E79079-C431-7204-5B84-667773C67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234" y="2793671"/>
            <a:ext cx="5867245" cy="4064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209C4-6DDB-77F2-8E82-381FB8F24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risk factors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CE8B8B-65E7-7B95-AD57-66B6BE7CD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-Multinomial model for SDI and SLEDAI components</a:t>
            </a:r>
          </a:p>
          <a:p>
            <a:r>
              <a:rPr lang="en-US" dirty="0"/>
              <a:t>-Competing risk regression</a:t>
            </a:r>
          </a:p>
        </p:txBody>
      </p:sp>
    </p:spTree>
    <p:extLst>
      <p:ext uri="{BB962C8B-B14F-4D97-AF65-F5344CB8AC3E}">
        <p14:creationId xmlns:p14="http://schemas.microsoft.com/office/powerpoint/2010/main" val="2983744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83843-884A-D47F-F76D-CBB47BA23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Multinomial Models for Components of SDI and SLEDAI</a:t>
            </a:r>
          </a:p>
        </p:txBody>
      </p:sp>
      <p:pic>
        <p:nvPicPr>
          <p:cNvPr id="10" name="Picture 9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8F72BBF7-664D-4E34-BAE3-D45723893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1" y="1638140"/>
            <a:ext cx="4762211" cy="2942099"/>
          </a:xfrm>
          <a:prstGeom prst="rect">
            <a:avLst/>
          </a:prstGeom>
        </p:spPr>
      </p:pic>
      <p:pic>
        <p:nvPicPr>
          <p:cNvPr id="12" name="Picture 11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53971DB2-EDA2-D57C-AEBD-508F142AD0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372"/>
          <a:stretch/>
        </p:blipFill>
        <p:spPr>
          <a:xfrm>
            <a:off x="105911" y="4513811"/>
            <a:ext cx="4762211" cy="2339566"/>
          </a:xfrm>
          <a:prstGeom prst="rect">
            <a:avLst/>
          </a:prstGeom>
        </p:spPr>
      </p:pic>
      <p:pic>
        <p:nvPicPr>
          <p:cNvPr id="16" name="Content Placeholder 15" descr="A graph with red and blue dots&#10;&#10;AI-generated content may be incorrect.">
            <a:extLst>
              <a:ext uri="{FF2B5EF4-FFF2-40B4-BE49-F238E27FC236}">
                <a16:creationId xmlns:a16="http://schemas.microsoft.com/office/drawing/2014/main" id="{C0ADBBE1-E024-E633-A72D-B3635A9A88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327811" y="2502039"/>
            <a:ext cx="6758278" cy="4351338"/>
          </a:xfr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9C37D36-F4D8-CFAA-037A-0365F67E9857}"/>
              </a:ext>
            </a:extLst>
          </p:cNvPr>
          <p:cNvSpPr txBox="1"/>
          <p:nvPr/>
        </p:nvSpPr>
        <p:spPr>
          <a:xfrm>
            <a:off x="5327811" y="1578709"/>
            <a:ext cx="63890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Creating two models using Employed as reference group for significant components of SLEDAI and SDI respectively, adjusting for multiple testing, controlling for Age at diagnosis</a:t>
            </a:r>
          </a:p>
        </p:txBody>
      </p:sp>
    </p:spTree>
    <p:extLst>
      <p:ext uri="{BB962C8B-B14F-4D97-AF65-F5344CB8AC3E}">
        <p14:creationId xmlns:p14="http://schemas.microsoft.com/office/powerpoint/2010/main" val="4078503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66749-B845-E616-58EA-2C6636E5E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Competing Risk Regression</a:t>
            </a:r>
          </a:p>
        </p:txBody>
      </p:sp>
      <p:pic>
        <p:nvPicPr>
          <p:cNvPr id="7" name="Picture 6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C4FE262B-E00D-3FDF-D62A-65AC0D4EC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3121"/>
            <a:ext cx="7772400" cy="504262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29418E2-DA27-322B-3558-CD9EF78E5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0" y="2141537"/>
            <a:ext cx="4419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Using employed individuals as reference category:</a:t>
            </a:r>
          </a:p>
          <a:p>
            <a:pPr lvl="1"/>
            <a:r>
              <a:rPr lang="en-US" sz="1600" dirty="0"/>
              <a:t>Number of severe flares significantly higher for dead and number of mild flares significantly higher for disabled and unemployed</a:t>
            </a:r>
          </a:p>
          <a:p>
            <a:pPr lvl="1"/>
            <a:r>
              <a:rPr lang="en-US" sz="1600" dirty="0"/>
              <a:t>Higher steroid doses significantly higher for both disabled and dead and lower for unemployed</a:t>
            </a:r>
          </a:p>
        </p:txBody>
      </p:sp>
    </p:spTree>
    <p:extLst>
      <p:ext uri="{BB962C8B-B14F-4D97-AF65-F5344CB8AC3E}">
        <p14:creationId xmlns:p14="http://schemas.microsoft.com/office/powerpoint/2010/main" val="347434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A9B67-EC00-8550-3C8B-856CB96FC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 high risk patients for early prediction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82023-35E4-3FC7-A67D-149823E23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-Classify patients into their end state, using only data before transitioning</a:t>
            </a:r>
          </a:p>
          <a:p>
            <a:r>
              <a:rPr lang="en-US" dirty="0"/>
              <a:t>-Identifying patients at risk of leaving the labor force</a:t>
            </a:r>
          </a:p>
          <a:p>
            <a:r>
              <a:rPr lang="en-US" dirty="0"/>
              <a:t>-Viewing their risk score trajectory with clinical outcomes</a:t>
            </a:r>
          </a:p>
        </p:txBody>
      </p:sp>
    </p:spTree>
    <p:extLst>
      <p:ext uri="{BB962C8B-B14F-4D97-AF65-F5344CB8AC3E}">
        <p14:creationId xmlns:p14="http://schemas.microsoft.com/office/powerpoint/2010/main" val="2380919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21910-1631-25D4-40F3-72E6384CD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Short-Term Memory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C403F-8E69-9D13-1EF5-9FCF632B3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8084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Recurrent Neural Network for sequential data (patient visits)</a:t>
            </a:r>
          </a:p>
          <a:p>
            <a:r>
              <a:rPr lang="en-US" sz="2000" dirty="0"/>
              <a:t>LSTM networks are designed to remember information over long sequences.</a:t>
            </a:r>
          </a:p>
          <a:p>
            <a:r>
              <a:rPr lang="en-US" sz="2000" dirty="0"/>
              <a:t>Each unit includes gates (</a:t>
            </a:r>
            <a:r>
              <a:rPr lang="en-US" sz="2000" dirty="0">
                <a:highlight>
                  <a:srgbClr val="FFFF00"/>
                </a:highlight>
              </a:rPr>
              <a:t>input, forget, output</a:t>
            </a:r>
            <a:r>
              <a:rPr lang="en-US" sz="2000" dirty="0"/>
              <a:t>) that control the flow of information, enabling the model to retain or discard data as needed</a:t>
            </a:r>
          </a:p>
          <a:p>
            <a:endParaRPr lang="en-US" sz="2000" dirty="0"/>
          </a:p>
        </p:txBody>
      </p:sp>
      <p:pic>
        <p:nvPicPr>
          <p:cNvPr id="1028" name="Picture 4" descr="What is LSTM - Long Short Term Memory? - GeeksforGeeks">
            <a:extLst>
              <a:ext uri="{FF2B5EF4-FFF2-40B4-BE49-F238E27FC236}">
                <a16:creationId xmlns:a16="http://schemas.microsoft.com/office/drawing/2014/main" id="{E0CB726E-5B11-BEA2-8542-AB86C2D93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9040" y="2263934"/>
            <a:ext cx="6949440" cy="347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9847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C158D-E719-5D8B-EF45-44A593A04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Predicting the final state of patients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85494-669E-76E9-0173-0BC37ACEB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892352" cy="4351338"/>
          </a:xfrm>
        </p:spPr>
        <p:txBody>
          <a:bodyPr>
            <a:normAutofit/>
          </a:bodyPr>
          <a:lstStyle/>
          <a:p>
            <a:r>
              <a:rPr lang="en-US" sz="2400" dirty="0"/>
              <a:t>Training LSTM model with cross-validation and including Random Forest into prediction (0.7xLSTM prediction + 0.3xRF prediction)</a:t>
            </a:r>
          </a:p>
          <a:p>
            <a:r>
              <a:rPr lang="en-US" sz="2400" dirty="0"/>
              <a:t>Look at each visit to see:</a:t>
            </a:r>
          </a:p>
          <a:p>
            <a:pPr lvl="1"/>
            <a:r>
              <a:rPr lang="en-US" sz="2000" dirty="0"/>
              <a:t>Treatment data: Steroid and antimalarial dose</a:t>
            </a:r>
          </a:p>
          <a:p>
            <a:pPr lvl="1"/>
            <a:r>
              <a:rPr lang="en-US" sz="2000" dirty="0"/>
              <a:t>Clinical data: Severe/mild flare, SDI score at that visit</a:t>
            </a:r>
          </a:p>
          <a:p>
            <a:pPr lvl="1"/>
            <a:r>
              <a:rPr lang="en-US" sz="2000" dirty="0"/>
              <a:t>Patient data: Inception cohort? Time since first visit and since last visit, number of visits and age at the visit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9" name="Picture 8" descr="A screenshot of a report&#10;&#10;AI-generated content may be incorrect.">
            <a:extLst>
              <a:ext uri="{FF2B5EF4-FFF2-40B4-BE49-F238E27FC236}">
                <a16:creationId xmlns:a16="http://schemas.microsoft.com/office/drawing/2014/main" id="{AB6BD451-E2AE-BC0D-9BE4-C9C08E991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148915"/>
            <a:ext cx="6096000" cy="334396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4BC6E0B-DB08-F44C-2829-99E00EDC9724}"/>
              </a:ext>
            </a:extLst>
          </p:cNvPr>
          <p:cNvSpPr txBox="1">
            <a:spLocks/>
          </p:cNvSpPr>
          <p:nvPr/>
        </p:nvSpPr>
        <p:spPr>
          <a:xfrm>
            <a:off x="5854961" y="1839621"/>
            <a:ext cx="549883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Results:</a:t>
            </a:r>
          </a:p>
          <a:p>
            <a:pPr lvl="1"/>
            <a:r>
              <a:rPr lang="en-US" sz="2000" dirty="0"/>
              <a:t>Balanced accuracy 0.766 </a:t>
            </a:r>
          </a:p>
          <a:p>
            <a:pPr marL="457200" lvl="1" indent="0">
              <a:buNone/>
            </a:pPr>
            <a:r>
              <a:rPr lang="en-US" sz="2000" dirty="0"/>
              <a:t>(since classes are very unbalanced)</a:t>
            </a:r>
          </a:p>
        </p:txBody>
      </p:sp>
    </p:spTree>
    <p:extLst>
      <p:ext uri="{BB962C8B-B14F-4D97-AF65-F5344CB8AC3E}">
        <p14:creationId xmlns:p14="http://schemas.microsoft.com/office/powerpoint/2010/main" val="2343836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6DBE3-4460-BF78-5704-9448ECE4C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Flagging High Risk Patients Accuracy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29E081-97FB-DF20-BA2C-6009E2CA96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Flagging Performance Report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ACB7E1-C97C-DF99-7D77-AFADF480FA0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buFontTx/>
              <a:buChar char="-"/>
            </a:pPr>
            <a:r>
              <a:rPr lang="en-US" sz="2400" dirty="0"/>
              <a:t>Total flagged: 208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en-US" sz="2400" dirty="0"/>
              <a:t>Still employed when flagged: 40 (19.2%) 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en-US" sz="2400" dirty="0"/>
              <a:t>Median months before exit: 10.0 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en-US" sz="2400" dirty="0"/>
              <a:t>Early warnings (&gt;12 months): 55 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en-US" sz="2400" dirty="0"/>
              <a:t>Imminent warnings (≤12 months): 153 (Includes people who had already transitioned) </a:t>
            </a:r>
          </a:p>
          <a:p>
            <a:endParaRPr lang="en-US" sz="2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D0BB44-103D-B17F-953E-FCD83F4F2F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Overall Flagging Accuracy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32A492-AB6F-9BCF-EF51-428BA5FDDF3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- Total patients: 1025 </a:t>
            </a:r>
          </a:p>
          <a:p>
            <a:pPr>
              <a:buFontTx/>
              <a:buChar char="-"/>
            </a:pPr>
            <a:r>
              <a:rPr lang="en-US" dirty="0"/>
              <a:t>Should have been flagged (not employed at end): 243 </a:t>
            </a:r>
          </a:p>
          <a:p>
            <a:pPr>
              <a:buFontTx/>
              <a:buChar char="-"/>
            </a:pPr>
            <a:r>
              <a:rPr lang="en-US" dirty="0"/>
              <a:t>Correctly flagged (true positives): 179 </a:t>
            </a:r>
          </a:p>
          <a:p>
            <a:pPr>
              <a:buFontTx/>
              <a:buChar char="-"/>
            </a:pPr>
            <a:r>
              <a:rPr lang="en-US" dirty="0"/>
              <a:t>False positives: 23 </a:t>
            </a:r>
          </a:p>
          <a:p>
            <a:pPr>
              <a:buFontTx/>
              <a:buChar char="-"/>
            </a:pPr>
            <a:r>
              <a:rPr lang="en-US" dirty="0"/>
              <a:t>False negatives: 64 </a:t>
            </a:r>
          </a:p>
          <a:p>
            <a:pPr>
              <a:buFontTx/>
              <a:buChar char="-"/>
            </a:pPr>
            <a:r>
              <a:rPr lang="en-US" dirty="0"/>
              <a:t>Sensitivity (recall): 73.7%</a:t>
            </a:r>
          </a:p>
          <a:p>
            <a:pPr>
              <a:buFontTx/>
              <a:buChar char="-"/>
            </a:pPr>
            <a:r>
              <a:rPr lang="en-US" dirty="0"/>
              <a:t>Precision: 89.9% </a:t>
            </a:r>
          </a:p>
          <a:p>
            <a:pPr>
              <a:buFontTx/>
              <a:buChar char="-"/>
            </a:pPr>
            <a:r>
              <a:rPr lang="en-US" dirty="0"/>
              <a:t>Specificity: 97.4% </a:t>
            </a:r>
          </a:p>
          <a:p>
            <a:pPr>
              <a:buFontTx/>
              <a:buChar char="-"/>
            </a:pPr>
            <a:r>
              <a:rPr lang="en-US" dirty="0"/>
              <a:t>Flagging rate: 73.7% </a:t>
            </a:r>
          </a:p>
          <a:p>
            <a:pPr>
              <a:buFontTx/>
              <a:buChar char="-"/>
            </a:pPr>
            <a:r>
              <a:rPr lang="en-US" dirty="0"/>
              <a:t>False positive rate: 2.6%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152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1806D-7F83-FA6B-25D4-7A5DB8D07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LSTM model assigns an exit risk probability (blue) to each patient using sequential clinical data</a:t>
            </a:r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113AF840-21C4-960E-37B2-C12179064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High Risk Patient Trajectory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AD2019-49E3-AF6C-AC5F-9210E7D2F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030600"/>
            <a:ext cx="6061149" cy="301151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D23197F-393B-39FF-4835-B80201E334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959729"/>
            <a:ext cx="6203790" cy="308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817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7741</TotalTime>
  <Words>960</Words>
  <Application>Microsoft Macintosh PowerPoint</Application>
  <PresentationFormat>Widescreen</PresentationFormat>
  <Paragraphs>149</Paragraphs>
  <Slides>16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Menlo</vt:lpstr>
      <vt:lpstr>Source Sans Pro</vt:lpstr>
      <vt:lpstr>Times New Roman</vt:lpstr>
      <vt:lpstr>Office Theme</vt:lpstr>
      <vt:lpstr>Labor Force Exits of SLE Patients</vt:lpstr>
      <vt:lpstr>Objectives</vt:lpstr>
      <vt:lpstr>Objectives</vt:lpstr>
      <vt:lpstr>Characteristics of workers in the various exit routes</vt:lpstr>
      <vt:lpstr>Sample</vt:lpstr>
      <vt:lpstr>PowerPoint Presentation</vt:lpstr>
      <vt:lpstr>Maximum Dose and type of treatment</vt:lpstr>
      <vt:lpstr>Flares by End State </vt:lpstr>
      <vt:lpstr>Identify risk factors</vt:lpstr>
      <vt:lpstr>Multinomial Models for Components of SDI and SLEDAI</vt:lpstr>
      <vt:lpstr>Competing Risk Regression</vt:lpstr>
      <vt:lpstr>Flag high risk patients for early prediction</vt:lpstr>
      <vt:lpstr>Long Short-Term Memory Model</vt:lpstr>
      <vt:lpstr>Predicting the final state of patients</vt:lpstr>
      <vt:lpstr>Flagging High Risk Patients Accuracy</vt:lpstr>
      <vt:lpstr>Sample High Risk Patient Trajectory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Mencia Ledo</dc:creator>
  <cp:lastModifiedBy>Javier Mencia Ledo</cp:lastModifiedBy>
  <cp:revision>3</cp:revision>
  <dcterms:created xsi:type="dcterms:W3CDTF">2025-06-25T15:52:47Z</dcterms:created>
  <dcterms:modified xsi:type="dcterms:W3CDTF">2025-07-01T05:07:59Z</dcterms:modified>
</cp:coreProperties>
</file>